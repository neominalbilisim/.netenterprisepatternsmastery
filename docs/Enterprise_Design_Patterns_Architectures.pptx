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10312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480560"/>
            <a:ext cx="4206240" cy="4206240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EĞİTİM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Enterprise Design Patterns</a:t>
            </a:r>
          </a:p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&amp;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Katmanlı, esnek ve ölçeklenebilir kurumsal yazılım sistemleri tasarlamak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160520"/>
            <a:ext cx="566928" cy="566928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81" y="4307921"/>
            <a:ext cx="272125" cy="272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1888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Mimari</a:t>
            </a:r>
          </a:p>
        </p:txBody>
      </p:sp>
      <p:sp>
        <p:nvSpPr>
          <p:cNvPr id="10" name="Oval 9"/>
          <p:cNvSpPr/>
          <p:nvPr/>
        </p:nvSpPr>
        <p:spPr>
          <a:xfrm>
            <a:off x="2423160" y="4160520"/>
            <a:ext cx="566928" cy="566928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561" y="4307921"/>
            <a:ext cx="272125" cy="272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481888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Patternler</a:t>
            </a:r>
          </a:p>
        </p:txBody>
      </p:sp>
      <p:sp>
        <p:nvSpPr>
          <p:cNvPr id="13" name="Oval 12"/>
          <p:cNvSpPr/>
          <p:nvPr/>
        </p:nvSpPr>
        <p:spPr>
          <a:xfrm>
            <a:off x="3749039" y="4160520"/>
            <a:ext cx="566928" cy="566928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441" y="4307921"/>
            <a:ext cx="272125" cy="272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74720" y="481888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CQRS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4160520"/>
            <a:ext cx="566928" cy="566928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321" y="4307921"/>
            <a:ext cx="272125" cy="272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481888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Dayanıklılık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160520"/>
            <a:ext cx="566928" cy="566928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201" y="4307921"/>
            <a:ext cx="272125" cy="2721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0" y="481888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891C7"/>
                </a:solidFill>
                <a:latin typeface="Calibri"/>
              </a:rPr>
              <a:t>Expert Seviye · 3 Gün (12 Saat) · .NET 10 — Neominal Akademi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GENEL BAKIŞ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Eğitim Künyesi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Kurumsal tasarım desenlerini uygulamalı olarak inceleyip, katmanlı ve esnek mimari çözümler tasarlıyoruz.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63875" cy="19202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0537" y="2286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958" y="2452420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090672"/>
            <a:ext cx="22981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Seviye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22066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8819" y="2011680"/>
            <a:ext cx="2663875" cy="19202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0717" y="2286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38" y="2452420"/>
            <a:ext cx="307238" cy="3072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1699" y="3090672"/>
            <a:ext cx="22981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Süre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7419" y="3456432"/>
            <a:ext cx="22066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3 gün · 12 saat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8999" y="2011680"/>
            <a:ext cx="2663875" cy="19202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80897" y="2286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318" y="2452420"/>
            <a:ext cx="307238" cy="3072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1879" y="3090672"/>
            <a:ext cx="22981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Hedef Kitle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3456432"/>
            <a:ext cx="22066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Backend Developer, Software Architect, Tech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179" y="2011680"/>
            <a:ext cx="2663875" cy="19202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91077" y="2286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r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7498" y="2452420"/>
            <a:ext cx="307238" cy="3072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62059" y="3090672"/>
            <a:ext cx="22981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Ön Koşul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7779" y="3456432"/>
            <a:ext cx="22066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İleri düzey .NET bilgisi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E2761"/>
                </a:solidFill>
                <a:latin typeface="Calibri"/>
              </a:rPr>
              <a:t>KULLANILACAK TEKNOLOJİLER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.NET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15997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5997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Entity Framework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3354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3354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MediatR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0711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0711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FluentValidation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8068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8068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 / SQL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85426" y="4709160"/>
            <a:ext cx="1757629" cy="50292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5426" y="4709160"/>
            <a:ext cx="175762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GÜNDEM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Bu Eğitimde Neler 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7" y="186994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6733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01 · Mimari Yaklaşımlar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N-Tier'dan başlayarak Clean, Hexagonal ve Onion Architecture ile bağımlılıkları tersine çevirmek.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7" y="324154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30449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02 · Veri ve İş Mantığı Patternleri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472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Repository, Unit of Work, Specification, CQRS, Result ve Pipeline Behaviors ile temiz bir uygulama katmanı.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7" y="4613148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4165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03 · Güvenilirlik ve Entegrasyon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8188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Outbox, Pub/Sub, Idempotency, Resiliency ve Integration patternleri ile dağıtık sistemlerde tutarlılık.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07227" y="1828800"/>
            <a:ext cx="777240" cy="7772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2030882"/>
            <a:ext cx="373075" cy="37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34640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300">
                <a:solidFill>
                  <a:srgbClr val="8891C7"/>
                </a:solidFill>
                <a:latin typeface="Calibri"/>
              </a:rPr>
              <a:t>BÖLÜM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Mimari Yaklaşımlar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N-Tier · Clean Architecture · Hexagonal Architecture · Onion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91C7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91C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N-Tier 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Uygulamayı sorumluluklarına göre katmanlara ayırır; her katman yalnızca bir alttakine bağımlıdır.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667512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802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211019"/>
            <a:ext cx="241401" cy="241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9659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3611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Web API, MVC, UI — kullanıcı ve istemci etkileşimi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39"/>
            <a:ext cx="667512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94893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079699"/>
            <a:ext cx="241401" cy="2414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283463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34639"/>
            <a:ext cx="3611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İş kuralları, servisler, doğrulama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67512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8176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948379"/>
            <a:ext cx="241401" cy="2414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7033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Data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03320"/>
            <a:ext cx="3611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ORM, sorgular, veri erişim kodu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667512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6863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4817059"/>
            <a:ext cx="241401" cy="2414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45720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572000"/>
            <a:ext cx="36118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SQL Server, PostgreSQL</a:t>
            </a:r>
          </a:p>
        </p:txBody>
      </p:sp>
      <p:pic>
        <p:nvPicPr>
          <p:cNvPr id="27" name="Picture 26" descr="arrow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60920" y="2468880"/>
            <a:ext cx="256032" cy="256032"/>
          </a:xfrm>
          <a:prstGeom prst="rect">
            <a:avLst/>
          </a:prstGeom>
        </p:spPr>
      </p:pic>
      <p:pic>
        <p:nvPicPr>
          <p:cNvPr id="28" name="Picture 27" descr="arrow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60920" y="3337559"/>
            <a:ext cx="256032" cy="256032"/>
          </a:xfrm>
          <a:prstGeom prst="rect">
            <a:avLst/>
          </a:prstGeom>
        </p:spPr>
      </p:pic>
      <p:pic>
        <p:nvPicPr>
          <p:cNvPr id="29" name="Picture 28" descr="arrow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60920" y="4206240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26679" y="2011680"/>
            <a:ext cx="91440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0B8D9"/>
                </a:solidFill>
                <a:latin typeface="Calibri"/>
              </a:rPr>
              <a:t>bağımlılık</a:t>
            </a:r>
          </a:p>
          <a:p>
            <a:pPr algn="l"/>
            <a:r>
              <a:rPr sz="1100" b="0" i="1">
                <a:solidFill>
                  <a:srgbClr val="00B8D9"/>
                </a:solidFill>
                <a:latin typeface="Calibri"/>
              </a:rPr>
              <a:t>yönü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1965960"/>
            <a:ext cx="3001975" cy="14173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2093976"/>
            <a:ext cx="2453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1E"/>
                </a:solidFill>
                <a:latin typeface="Calibri"/>
              </a:rPr>
              <a:t>SINIRLILIK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350008"/>
            <a:ext cx="2453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A1F1F"/>
                </a:solidFill>
                <a:latin typeface="Calibri"/>
              </a:rPr>
              <a:t>İş mantığı veri erişim katmanına bağımlıdır. Veritabanı veya ORM değişikliği tüm katmanlara yayılır, iş kurallarını altyapıdan bağımsız test etmek zorlaşır.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3520440"/>
            <a:ext cx="3001975" cy="16916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648456"/>
            <a:ext cx="2453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ÇÖZÜM YÖNÜ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904488"/>
            <a:ext cx="245333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Bağımlılıkları tersine çevir: iş kuralları merkezde, altyapı dışarıda. Clean, Hexagonal ve Onion bu fikrin üç farklı ifadesidir.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Clean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Robert C. Martin'in yaklaşımı: kaynak kod bağımlılıkları yalnızca içe, iş kurallarına doğru işaret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4572000" cy="4572000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240280"/>
            <a:ext cx="3291840" cy="3291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5960" y="2880360"/>
            <a:ext cx="2011680" cy="2011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Presentation ·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68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783080"/>
            <a:ext cx="5973775" cy="69494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59" y="19019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1" y="2020824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1783080"/>
            <a:ext cx="14630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783080"/>
            <a:ext cx="323057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Entity, Value Object, Domain Event, iş kuralları. Hiçbir katmana bağımlı değildir.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2569464"/>
            <a:ext cx="5973775" cy="69494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2159" y="268833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1" y="2807208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37959" y="2569464"/>
            <a:ext cx="14630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69464"/>
            <a:ext cx="323057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Use case'ler, Command/Query handler'lar, arayüzler (IRepository, IEmailSender).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79" y="3355848"/>
            <a:ext cx="5973775" cy="69494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59" y="34747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1" y="3593591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37959" y="3355848"/>
            <a:ext cx="14630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355848"/>
            <a:ext cx="323057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EF Core, mesajlaşma, dış servisler — Application arayüzlerini uygular.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9" y="4142232"/>
            <a:ext cx="5973775" cy="69494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52159" y="42611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1" y="4379976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37959" y="4142232"/>
            <a:ext cx="14630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142232"/>
            <a:ext cx="323057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Web API / Minimal API; isteği alır, Application'a iletir.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79" y="4983480"/>
            <a:ext cx="5973775" cy="10972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599" y="5111496"/>
            <a:ext cx="5425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DEPENDENCY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599" y="5367528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İç halkalar dış halkaları bilmez. Altyapı detayları arayüzlerin arkasına gizlenir ve DI ile çalışma anında bağlanır.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Hexagonal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Alistair Cockburn'ün Ports &amp; Adapters yaklaşımı: uygulama çekirdeği dış dünyayla yalnızca portlar üzerinden konuşur.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911644" cy="28346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0142" y="21945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88" y="2337206"/>
            <a:ext cx="263347" cy="2633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2852928"/>
            <a:ext cx="17287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Driving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7287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00B8D9"/>
                </a:solidFill>
                <a:latin typeface="Calibri"/>
              </a:rPr>
              <a:t>Uygulamayı tetikleyenler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16373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REST API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gRPC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Message Consumer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Test</a:t>
            </a:r>
          </a:p>
        </p:txBody>
      </p:sp>
      <p:pic>
        <p:nvPicPr>
          <p:cNvPr id="13" name="Picture 12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292" y="3300984"/>
            <a:ext cx="256032" cy="2560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44332" y="2011680"/>
            <a:ext cx="1911644" cy="2834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5834" y="2194560"/>
            <a:ext cx="548640" cy="5486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481" y="2337206"/>
            <a:ext cx="263347" cy="2633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35772" y="2852928"/>
            <a:ext cx="17287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Ports (Inbound)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772" y="3154680"/>
            <a:ext cx="17287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00B8D9"/>
                </a:solidFill>
                <a:latin typeface="Calibri"/>
              </a:rPr>
              <a:t>Use case arayüzleri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1492" y="3520440"/>
            <a:ext cx="16373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ICreateOrder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IGetOrderById</a:t>
            </a:r>
          </a:p>
        </p:txBody>
      </p:sp>
      <p:pic>
        <p:nvPicPr>
          <p:cNvPr id="20" name="Picture 19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985" y="3300984"/>
            <a:ext cx="256032" cy="2560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140025" y="2011680"/>
            <a:ext cx="1911644" cy="28346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1527" y="2194560"/>
            <a:ext cx="548640" cy="5486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ex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174" y="2337206"/>
            <a:ext cx="263347" cy="2633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1465" y="2852928"/>
            <a:ext cx="17287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Application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1465" y="3154680"/>
            <a:ext cx="17287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00B8D9"/>
                </a:solidFill>
                <a:latin typeface="Calibri"/>
              </a:rPr>
              <a:t>Domain + iş kuralları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7185" y="3520440"/>
            <a:ext cx="16373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Order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Pricing Policy</a:t>
            </a:r>
          </a:p>
        </p:txBody>
      </p:sp>
      <p:pic>
        <p:nvPicPr>
          <p:cNvPr id="27" name="Picture 26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677" y="3300984"/>
            <a:ext cx="256032" cy="2560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435717" y="2011680"/>
            <a:ext cx="1911644" cy="2834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17220" y="2194560"/>
            <a:ext cx="548640" cy="5486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866" y="2337206"/>
            <a:ext cx="263347" cy="2633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27157" y="2852928"/>
            <a:ext cx="17287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Ports (Outbound)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7157" y="3154680"/>
            <a:ext cx="17287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00B8D9"/>
                </a:solidFill>
                <a:latin typeface="Calibri"/>
              </a:rPr>
              <a:t>Çekirdeğin ihtiyaçları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2877" y="3520440"/>
            <a:ext cx="16373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IOrderRepository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IPaymentGateway</a:t>
            </a:r>
          </a:p>
        </p:txBody>
      </p:sp>
      <p:pic>
        <p:nvPicPr>
          <p:cNvPr id="34" name="Picture 33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370" y="3300984"/>
            <a:ext cx="256032" cy="25603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731410" y="2011680"/>
            <a:ext cx="1911644" cy="28346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2912" y="21945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l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559" y="2337206"/>
            <a:ext cx="263347" cy="2633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22850" y="2852928"/>
            <a:ext cx="17287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Driven Adapters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2850" y="3154680"/>
            <a:ext cx="17287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00B8D9"/>
                </a:solidFill>
                <a:latin typeface="Calibri"/>
              </a:rPr>
              <a:t>Uygulamanın kullandıkları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8570" y="3520440"/>
            <a:ext cx="163732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EF Core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Stripe Client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SMTP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RabbitMQ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20640"/>
            <a:ext cx="11094415" cy="10515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248655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NEDEN ÖNEMLI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5504688"/>
            <a:ext cx="10545775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Aynı çekirdek; HTTP, mesaj kuyruğu veya test kodu tarafından değişiklik yapılmadan sürülebilir. Adaptörler takılıp çıkarılabilen parçalardır.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Onion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Jeffrey Palermo'nun yaklaşımı: Domain Model merkezde, her katman yalnızca kendisinden içtekine bağımlı.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7178040" y="1874519"/>
            <a:ext cx="4206240" cy="4206240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0" y="2377439"/>
            <a:ext cx="3200400" cy="3200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83880" y="2880359"/>
            <a:ext cx="2194560" cy="21945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3383279"/>
            <a:ext cx="1188720" cy="1188720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3911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UI · Infrastructure ·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1459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Application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0632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Domain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749039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B8D9"/>
                </a:solidFill>
                <a:latin typeface="Calibri"/>
              </a:rPr>
              <a:t>Domain</a:t>
            </a:r>
          </a:p>
          <a:p>
            <a:pPr algn="ctr"/>
            <a:r>
              <a:rPr sz="1100" b="1" i="0">
                <a:solidFill>
                  <a:srgbClr val="00B8D9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630936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76272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19202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Domain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9202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Entity'ler ve Value Object'ler; durum ve davranış.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88920"/>
            <a:ext cx="630936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9260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44951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7320" y="27889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Domain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88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Birden fazla entity'yi kapsayan iş kuralları, repository arayüzleri.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630936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913632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17320" y="36576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Application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6576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Use case orkestrasyonu, transaction sınırları.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79"/>
            <a:ext cx="6309360" cy="7315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782312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17320" y="4526279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Dış Halka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26279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UI, veri erişimi, testler — tamamen değiştirilebilir.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6309360" cy="7315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61441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A6D1E"/>
                </a:solidFill>
                <a:latin typeface="Calibri"/>
              </a:rPr>
              <a:t>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87044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4A16"/>
                </a:solidFill>
                <a:latin typeface="Calibri"/>
              </a:rPr>
              <a:t>Onion, Clean'e çok benzer; fark çoğunlukla isimlendirme ve katman sayısındadır.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MİMARİ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Üç Yaklaşım, Ortak Fikir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Üçü de bağımlılıkların tersine çevrilmesine (Dependency Inversion) dayanır; vurguladıkları nokta farklıdır.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965960"/>
            <a:ext cx="2893466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96596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2970" y="1965960"/>
            <a:ext cx="2893466" cy="457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2970" y="196596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Hexagonal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9588" y="1965960"/>
            <a:ext cx="2893466" cy="45720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9588" y="1965960"/>
            <a:ext cx="28934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Onion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32888"/>
            <a:ext cx="11094415" cy="475488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3288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Ana metafor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53288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Eş merkezli halkalar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0130" y="253288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Altıgen, portlar ve adaptörler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6748" y="253288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Soğan katmanları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81528"/>
            <a:ext cx="11094415" cy="475488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8152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Odak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08152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Dependency Rule, use case'ler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0130" y="308152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Dış dünya ile çekirdeğin ayrılması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6748" y="308152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Domain Model'in merkezde olması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30168"/>
            <a:ext cx="11094415" cy="475488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3016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Merkez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363016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Entities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0130" y="363016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Application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6748" y="363016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Domain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78808"/>
            <a:ext cx="11094415" cy="475488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7880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Güçlü yanı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417880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Net katman sorumlulukları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0130" y="417880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Test edilebilirlik, adaptör değişimi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6748" y="417880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DDD ile doğal uyum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27448"/>
            <a:ext cx="11094415" cy="475488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2744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.NET'te tipik yapı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53512" y="472744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Domain / Application / Infrastructure /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0130" y="472744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Core + Adapters projeleri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6748" y="4727448"/>
            <a:ext cx="261914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Core / Services / Infrastructure /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67527"/>
            <a:ext cx="11094415" cy="7772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495543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SONUÇ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751575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Bu eğitimde örnek projeyi Clean Architecture iskeleti üzerine kuruyor, port/adaptör ve domain merkezli düşünceyi aynı yapıda uyguluyoruz.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07227" y="1828800"/>
            <a:ext cx="777240" cy="7772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b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2030882"/>
            <a:ext cx="373075" cy="37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34640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300">
                <a:solidFill>
                  <a:srgbClr val="8891C7"/>
                </a:solidFill>
                <a:latin typeface="Calibri"/>
              </a:rPr>
              <a:t>BÖLÜM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Veri ve İş Mantığı Patternleri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Repository · Unit of Work · Specification · CQRS · Result · Pipeline Behaviors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91C7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91C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PATTERNLER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Repository ve Unit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Veri erişimini domain'den soyutlar ve birden fazla değişikliği tek bir atomik işlemde kaydeder.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74055" cy="27889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1945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360980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" y="2212848"/>
            <a:ext cx="4102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Repository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60320"/>
            <a:ext cx="4102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Aggregate'lere koleksiyon benzeri bir arayüz sunar.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" y="3377427"/>
            <a:ext cx="158008" cy="158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3291840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IOrderRepository: GetByIdAsync, Add, Remove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749039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" y="3834627"/>
            <a:ext cx="158008" cy="1580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749039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Sorgu detayları Infrastructure'da kalır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062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" y="4291827"/>
            <a:ext cx="158008" cy="1580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4206240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Domain, EF Core'u bilmez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1965960"/>
            <a:ext cx="5474055" cy="27889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3319" y="21945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740" y="2360980"/>
            <a:ext cx="307238" cy="3072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1999" y="2212848"/>
            <a:ext cx="4102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Unit of Work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1999" y="2560320"/>
            <a:ext cx="4102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Bir iş işlemindeki tüm değişiklikleri takip eder ve birlikte commit eder.</a:t>
            </a:r>
          </a:p>
        </p:txBody>
      </p:sp>
      <p:sp>
        <p:nvSpPr>
          <p:cNvPr id="26" name="Oval 25"/>
          <p:cNvSpPr/>
          <p:nvPr/>
        </p:nvSpPr>
        <p:spPr>
          <a:xfrm>
            <a:off x="6489039" y="32918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27" y="3377427"/>
            <a:ext cx="158008" cy="1580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91959" y="3291840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IUnitOfWork.SaveChangesAsync()</a:t>
            </a:r>
          </a:p>
        </p:txBody>
      </p:sp>
      <p:sp>
        <p:nvSpPr>
          <p:cNvPr id="29" name="Oval 28"/>
          <p:cNvSpPr/>
          <p:nvPr/>
        </p:nvSpPr>
        <p:spPr>
          <a:xfrm>
            <a:off x="6489039" y="3749039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27" y="3834627"/>
            <a:ext cx="158008" cy="1580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91959" y="3749039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Tek transaction, tutarlı durum</a:t>
            </a:r>
          </a:p>
        </p:txBody>
      </p:sp>
      <p:sp>
        <p:nvSpPr>
          <p:cNvPr id="32" name="Oval 31"/>
          <p:cNvSpPr/>
          <p:nvPr/>
        </p:nvSpPr>
        <p:spPr>
          <a:xfrm>
            <a:off x="6489039" y="420624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27" y="4291827"/>
            <a:ext cx="158008" cy="1580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91959" y="4206240"/>
            <a:ext cx="43767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Domain event'lerin toplanması için doğal nokta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83480"/>
            <a:ext cx="11094415" cy="10515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11149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A6D1E"/>
                </a:solidFill>
                <a:latin typeface="Calibri"/>
              </a:rPr>
              <a:t>TARTIŞMA NOKTASI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367528"/>
            <a:ext cx="10545775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4A16"/>
                </a:solidFill>
                <a:latin typeface="Calibri"/>
              </a:rPr>
              <a:t>EF Core'da DbContext zaten bir Unit of Work, DbSet ise bir repository gibi davranır. Ek soyutlamanın ne zaman değer kattığını ve ne zaman gereksiz katman olduğunu birlikte değerlendireceğiz.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PATTERNLER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Specification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Sorgu kriterlerini isimlendirilmiş, yeniden kullanılabilir ve test edilebilir nesnelere taşır.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430703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8541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14600"/>
            <a:ext cx="221124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ActiveOrdersByCustomer(id)</a:t>
            </a:r>
          </a:p>
        </p:txBody>
      </p:sp>
      <p:pic>
        <p:nvPicPr>
          <p:cNvPr id="10" name="Picture 9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39" y="2459736"/>
            <a:ext cx="292608" cy="2926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36543" y="2057400"/>
            <a:ext cx="2430703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71" y="218541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Criteria + Includes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271" y="2514600"/>
            <a:ext cx="221124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Where, Include, OrderBy, Skip/Take</a:t>
            </a:r>
          </a:p>
        </p:txBody>
      </p:sp>
      <p:pic>
        <p:nvPicPr>
          <p:cNvPr id="14" name="Picture 13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2459736"/>
            <a:ext cx="292608" cy="2926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24447" y="2057400"/>
            <a:ext cx="2430703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18541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Generic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514600"/>
            <a:ext cx="221124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ListAsync(spec)</a:t>
            </a:r>
          </a:p>
        </p:txBody>
      </p:sp>
      <p:pic>
        <p:nvPicPr>
          <p:cNvPr id="18" name="Picture 17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447" y="2459736"/>
            <a:ext cx="292608" cy="29260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212351" y="2057400"/>
            <a:ext cx="2430703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2079" y="218541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EF Core IQueryable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2079" y="2514600"/>
            <a:ext cx="221124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Tek ve optimize SQL sorgusu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3600602" cy="23774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28901" y="3749039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22" y="3915460"/>
            <a:ext cx="307238" cy="3072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455371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Okunabilirlik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19472"/>
            <a:ext cx="314340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İş dilini taşıyan sınıf isimleri: “gecikmiş siparişler”, “aktif müşteriler”.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5546" y="3474720"/>
            <a:ext cx="3600602" cy="23774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75807" y="3749039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3915460"/>
            <a:ext cx="307238" cy="30723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78426" y="455371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Yeniden kullanım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4146" y="4919472"/>
            <a:ext cx="314340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Aynı kriter hem sorgularda hem de iş kuralı doğrulamalarında kullanılır.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2452" y="3474720"/>
            <a:ext cx="3600602" cy="23774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22714" y="3749039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134" y="3915460"/>
            <a:ext cx="307238" cy="3072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5332" y="455371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Test edilebilirlik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1052" y="4919472"/>
            <a:ext cx="314340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Kriterler veritabanı olmadan, bellekteki koleksiyonlar üzerinde test edilir.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PATTERNLER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CQRS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Command Query Responsibility Segregation: durumu değiştiren işlemlerle okuma işlemlerini ayrı modellerle ele alır.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965960"/>
            <a:ext cx="4376775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965960"/>
            <a:ext cx="4376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6279" y="1965960"/>
            <a:ext cx="4376775" cy="457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6279" y="1965960"/>
            <a:ext cx="4376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11094415" cy="4572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3288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Amaç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532888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Sistemin durumunu değiştirir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3439" y="2532888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Veri döndürür, durumu değiştirmez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11094415" cy="4572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Örnek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63240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CreateOrderCommand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3439" y="3063240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GetOrderByIdQuery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93592"/>
            <a:ext cx="11094415" cy="4572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935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3593592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Domain modeli, iş kuralları, 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3439" y="3593592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Ekrana özel DTO / read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23944"/>
            <a:ext cx="11094415" cy="4572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2394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Veri erişimi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4123944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Repository + Unit of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3439" y="4123944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Hafif sorgular: AsNoTracking, projection, Dapper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54296"/>
            <a:ext cx="11094415" cy="4572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5429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Doğrulama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4654296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FluentValidation + domain kuralları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3439" y="4654296"/>
            <a:ext cx="41024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Genellikle yetkilendirme ve sayfalama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57800"/>
            <a:ext cx="11094415" cy="749808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38581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A6D1E"/>
                </a:solidFill>
                <a:latin typeface="Calibri"/>
              </a:rPr>
              <a:t>NOT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641848"/>
            <a:ext cx="1054577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4A16"/>
                </a:solidFill>
                <a:latin typeface="Calibri"/>
              </a:rPr>
              <a:t>CQRS, ayrı veritabanı veya Event Sourcing zorunluluğu getirmez; aynı veritabanı üzerinde handler seviyesinde ayrımla başlamak çoğu proje için yeterlidir.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PATTERNLER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Result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Beklenen hataları exception fırlatmak yerine tip güvenli bir dönüş değeriyle ifade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BAŞARILI AKIŞ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393338" cy="9144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1401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3173882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CreateOrderCommand</a:t>
            </a:r>
          </a:p>
        </p:txBody>
      </p:sp>
      <p:pic>
        <p:nvPicPr>
          <p:cNvPr id="11" name="Picture 10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74" y="2596896"/>
            <a:ext cx="292608" cy="2926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99178" y="2286000"/>
            <a:ext cx="3393338" cy="9144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241401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Result.Success(order.Id)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906" y="2743200"/>
            <a:ext cx="3173882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IsSuccess = true</a:t>
            </a:r>
          </a:p>
        </p:txBody>
      </p:sp>
      <p:pic>
        <p:nvPicPr>
          <p:cNvPr id="15" name="Picture 14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2" y="2596896"/>
            <a:ext cx="292608" cy="29260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49716" y="2286000"/>
            <a:ext cx="3393338" cy="9144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9444" y="241401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HTTP 201 Created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444" y="2743200"/>
            <a:ext cx="3173882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Endpoint sonucu eşler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1E"/>
                </a:solidFill>
                <a:latin typeface="Calibri"/>
              </a:rPr>
              <a:t>BEKLENEN HATA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49039"/>
            <a:ext cx="3393338" cy="9144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7705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06240"/>
            <a:ext cx="31738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472"/>
                </a:solidFill>
                <a:latin typeface="Calibri"/>
              </a:rPr>
              <a:t>Stok yetersiz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9178" y="3749039"/>
            <a:ext cx="3393338" cy="9144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8906" y="387705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3261E"/>
                </a:solidFill>
                <a:latin typeface="Calibri"/>
              </a:rPr>
              <a:t>Result.Failure(Error)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906" y="4206240"/>
            <a:ext cx="31738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A1F1F"/>
                </a:solidFill>
                <a:latin typeface="Calibri"/>
              </a:rPr>
              <a:t>Errors.Stock.Insufficient</a:t>
            </a:r>
          </a:p>
        </p:txBody>
      </p:sp>
      <p:pic>
        <p:nvPicPr>
          <p:cNvPr id="26" name="Picture 25" descr="arrow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274" y="4059936"/>
            <a:ext cx="292608" cy="29260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249716" y="3749039"/>
            <a:ext cx="3393338" cy="9144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9444" y="3877056"/>
            <a:ext cx="3173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3261E"/>
                </a:solidFill>
                <a:latin typeface="Calibri"/>
              </a:rPr>
              <a:t>HTTP 409 · ProblemDetails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444" y="4206240"/>
            <a:ext cx="31738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A1F1F"/>
                </a:solidFill>
                <a:latin typeface="Calibri"/>
              </a:rPr>
              <a:t>Tutarlı hata sözleşmesi</a:t>
            </a:r>
          </a:p>
        </p:txBody>
      </p:sp>
      <p:pic>
        <p:nvPicPr>
          <p:cNvPr id="30" name="Picture 29" descr="arrow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2" y="4059936"/>
            <a:ext cx="292608" cy="29260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48640" y="4983480"/>
            <a:ext cx="11094415" cy="10515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11149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NEDEN ÖNEMLI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367528"/>
            <a:ext cx="10545775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Exception'lar beklenmeyen durumlar içindir. Beklenen hatalar Result ile metot imzasında görünür olur; kontrol akışı okunur, performans maliyeti azalır.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PATTERNLER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Pipeline / Middleware Behaviors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Kesişen ilgileri (cross-cutting concerns) her handler'a tekrar yazmadan, istek hattına bir kez ekler.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911644" cy="10515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31136"/>
            <a:ext cx="16921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16921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Command / Query</a:t>
            </a:r>
          </a:p>
        </p:txBody>
      </p:sp>
      <p:pic>
        <p:nvPicPr>
          <p:cNvPr id="10" name="Picture 9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04" y="2482596"/>
            <a:ext cx="292607" cy="29260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44332" y="2103120"/>
            <a:ext cx="1911644" cy="10515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4060" y="2231136"/>
            <a:ext cx="16921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4060" y="2560320"/>
            <a:ext cx="16921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İstek ve süre kaydı</a:t>
            </a:r>
          </a:p>
        </p:txBody>
      </p:sp>
      <p:pic>
        <p:nvPicPr>
          <p:cNvPr id="14" name="Picture 13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97" y="2482596"/>
            <a:ext cx="292607" cy="29260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140025" y="2103120"/>
            <a:ext cx="1911644" cy="10515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9753" y="2231136"/>
            <a:ext cx="16921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9753" y="2560320"/>
            <a:ext cx="16921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FluentValidation</a:t>
            </a:r>
          </a:p>
        </p:txBody>
      </p:sp>
      <p:pic>
        <p:nvPicPr>
          <p:cNvPr id="18" name="Picture 17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89" y="2482596"/>
            <a:ext cx="292607" cy="29260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35717" y="2103120"/>
            <a:ext cx="1911644" cy="10515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5445" y="2231136"/>
            <a:ext cx="16921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Transaction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5445" y="2560320"/>
            <a:ext cx="16921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Unit of Work commit</a:t>
            </a:r>
          </a:p>
        </p:txBody>
      </p:sp>
      <p:pic>
        <p:nvPicPr>
          <p:cNvPr id="22" name="Picture 21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082" y="2482596"/>
            <a:ext cx="292607" cy="29260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731410" y="2103120"/>
            <a:ext cx="1911644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1138" y="2231136"/>
            <a:ext cx="16921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Handler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1138" y="2560320"/>
            <a:ext cx="169218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Use case mantığı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83280"/>
            <a:ext cx="11094415" cy="60350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465576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" y="3579693"/>
            <a:ext cx="210677" cy="21067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99032" y="33832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IPipelineBehavior&lt;TReq, TRes&gt;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383280"/>
            <a:ext cx="672358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MediatR'da her istek bu davranışlardan sırayla geçer; sıra DI kaydıyla belirlenir.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78224"/>
            <a:ext cx="11094415" cy="60350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160520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4274637"/>
            <a:ext cx="210677" cy="21067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99032" y="4078224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Erken çıkış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2" y="4078224"/>
            <a:ext cx="672358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Doğrulama hatasında handler hiç çalışmaz; Result.Failure ile hat kısa devre yapar.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73168"/>
            <a:ext cx="11094415" cy="60350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4855464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t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37" y="4969581"/>
            <a:ext cx="210677" cy="21067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99032" y="477316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ASP.NET Core ile ilişki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0872" y="4773168"/>
            <a:ext cx="672358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Middleware HTTP katmanında, behavior ise uygulama katmanında aynı fikri uygular.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513832"/>
            <a:ext cx="11094415" cy="749808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64184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A6D1E"/>
                </a:solidFill>
                <a:latin typeface="Calibri"/>
              </a:rPr>
              <a:t>NOT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5897880"/>
            <a:ext cx="1054577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4A16"/>
                </a:solidFill>
                <a:latin typeface="Calibri"/>
              </a:rPr>
              <a:t>MediatR yeni sürümlerinde ticari lisans modeline geçti; aynı pipeline yapısı kendi mediator implementasyonunuzla da kurulabilir.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07227" y="1828800"/>
            <a:ext cx="777240" cy="77724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2030882"/>
            <a:ext cx="373075" cy="37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34640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300">
                <a:solidFill>
                  <a:srgbClr val="8891C7"/>
                </a:solidFill>
                <a:latin typeface="Calibri"/>
              </a:rPr>
              <a:t>BÖLÜM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Güvenilirlik ve Entegrasyon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Outbox · Pub/Sub · Idempotency · Resiliency · Integration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91C7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91C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DAĞITIK SİSTEMLER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Outbox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Veritabanı değişikliği ile mesaj yayınlamayı aynı transaction'a bağlayarak “dual write” problemini çözer.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1094415" cy="9601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9397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3261E"/>
                </a:solidFill>
                <a:latin typeface="Calibri"/>
              </a:rPr>
              <a:t>PROBLEM: DUAL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A1F1F"/>
                </a:solidFill>
                <a:latin typeface="Calibri"/>
              </a:rPr>
              <a:t>SaveChanges başarılı olur, ardından broker'a publish başarısız olursa sipariş kaydedilmiş ama OrderCreated olayı kaybolmuştur. Tersi de mümkündür: mesaj gider, commit geri alınır.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ÇÖZÜM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2430703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0273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Tek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3192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Orders tablosu + OutboxMessages tablosu</a:t>
            </a:r>
          </a:p>
        </p:txBody>
      </p:sp>
      <p:pic>
        <p:nvPicPr>
          <p:cNvPr id="14" name="Picture 13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39" y="3899915"/>
            <a:ext cx="292608" cy="2926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36543" y="347472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271" y="360273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Outbox Processor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6271" y="393192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BackgroundService, işlenmemiş kayıtları okur</a:t>
            </a:r>
          </a:p>
        </p:txBody>
      </p:sp>
      <p:pic>
        <p:nvPicPr>
          <p:cNvPr id="18" name="Picture 17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3899915"/>
            <a:ext cx="292608" cy="29260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4447" y="347472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75" y="360273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Message Broker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393192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RabbitMQ / Kafka / Azure Service Bus</a:t>
            </a:r>
          </a:p>
        </p:txBody>
      </p:sp>
      <p:pic>
        <p:nvPicPr>
          <p:cNvPr id="22" name="Picture 21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447" y="3899915"/>
            <a:ext cx="292608" cy="2926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212351" y="347472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2079" y="360273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ProcessedOn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2079" y="393192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Mesaj başarıyla gönderildi olarak işaretlenir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11094415" cy="10058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020055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TESLIM GARANTISI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276088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Outbox “en az bir kez” (at-least-once) teslimat sağlar; aynı mesaj birden fazla gelebilir. Bu yüzden tüketici tarafında Idempotency şarttır.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DAĞITIK SİSTEMLER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Pub/Sub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Yayıncı, olayın kimler tarafından tüketileceğini bilmeden bir konuya mesaj bırakır; aboneler bağımsız tüketir.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237744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5146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llh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00" y="2681020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291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Publisher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Order Service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OrderCreated olayı</a:t>
            </a:r>
          </a:p>
        </p:txBody>
      </p:sp>
      <p:pic>
        <p:nvPicPr>
          <p:cNvPr id="12" name="Picture 11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337560"/>
            <a:ext cx="292608" cy="2926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794759" y="2286000"/>
            <a:ext cx="274320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2514600"/>
            <a:ext cx="640080" cy="6400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0" y="2681020"/>
            <a:ext cx="307238" cy="3072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86200" y="3291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Broker · 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118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order-created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exchange / topic</a:t>
            </a:r>
          </a:p>
        </p:txBody>
      </p:sp>
      <p:pic>
        <p:nvPicPr>
          <p:cNvPr id="18" name="Picture 17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67712"/>
            <a:ext cx="274320" cy="2743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086600" y="1965960"/>
            <a:ext cx="4556455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1717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290572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196596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Notification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399" y="1965960"/>
            <a:ext cx="135605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E-posta gönderir</a:t>
            </a:r>
          </a:p>
        </p:txBody>
      </p:sp>
      <p:pic>
        <p:nvPicPr>
          <p:cNvPr id="24" name="Picture 23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291840"/>
            <a:ext cx="274320" cy="27432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086600" y="2990088"/>
            <a:ext cx="4556455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69480" y="31958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3314700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2990088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Inventory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2990088"/>
            <a:ext cx="135605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Stoğu düşer</a:t>
            </a:r>
          </a:p>
        </p:txBody>
      </p:sp>
      <p:pic>
        <p:nvPicPr>
          <p:cNvPr id="30" name="Picture 29" descr="arrow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315968"/>
            <a:ext cx="274320" cy="2743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086600" y="4014216"/>
            <a:ext cx="4556455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69480" y="421995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ig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4338828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55279" y="4014216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Analytics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399" y="4014216"/>
            <a:ext cx="135605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Raporu günceller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66360"/>
            <a:ext cx="3600602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57800"/>
            <a:ext cx="31434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Gevşek bağlılık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0408"/>
            <a:ext cx="314340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Yeni abone eklemek yayıncıyı değiştirmez.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5546" y="5166360"/>
            <a:ext cx="3600602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4146" y="5257800"/>
            <a:ext cx="31434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Asenkron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4146" y="5550408"/>
            <a:ext cx="314340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Yayıncı abonelerin işini beklemez.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2452" y="5166360"/>
            <a:ext cx="3600602" cy="8686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1052" y="5257800"/>
            <a:ext cx="31434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8D9"/>
                </a:solidFill>
                <a:latin typeface="Calibri"/>
              </a:rPr>
              <a:t>Dikkat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1052" y="5550408"/>
            <a:ext cx="314340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Sıralama, tekrar ve eventual consistency yönetilmeli.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DAĞITIK SİSTEMLER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Idempotency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Aynı istek veya mesaj birden fazla kez işlense bile sistemin sonucu tek seferlik işlemle aynı kalır.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Mesaj / İstek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MessageId veya Idempotency-Key</a:t>
            </a:r>
          </a:p>
        </p:txBody>
      </p:sp>
      <p:pic>
        <p:nvPicPr>
          <p:cNvPr id="10" name="Picture 9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39" y="2436876"/>
            <a:ext cx="292608" cy="2926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36543" y="201168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71" y="213969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Daha önce işlendi mi?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271" y="246888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ProcessedMessages tablosu</a:t>
            </a:r>
          </a:p>
        </p:txBody>
      </p:sp>
      <p:pic>
        <p:nvPicPr>
          <p:cNvPr id="14" name="Picture 13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2436876"/>
            <a:ext cx="292608" cy="2926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24447" y="2011680"/>
            <a:ext cx="2430703" cy="11430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13969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Hayır → İşle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6888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İş mantığı + kayıt aynı transaction</a:t>
            </a:r>
          </a:p>
        </p:txBody>
      </p:sp>
      <p:pic>
        <p:nvPicPr>
          <p:cNvPr id="18" name="Picture 17" descr="arrow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447" y="2436876"/>
            <a:ext cx="292608" cy="29260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212351" y="2011680"/>
            <a:ext cx="2430703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2079" y="2139696"/>
            <a:ext cx="2211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Evet → Atla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2079" y="2468880"/>
            <a:ext cx="22112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Önceki sonucu döndür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3600602" cy="24231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28901" y="37033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22" y="3869740"/>
            <a:ext cx="307238" cy="3072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450799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Idempotency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73752"/>
            <a:ext cx="31434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İstemci her işlem için benzersiz anahtar gönderir; API tekrarlanan isteği tanır.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5546" y="3429000"/>
            <a:ext cx="3600602" cy="2423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75807" y="3703320"/>
            <a:ext cx="640080" cy="6400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n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3869740"/>
            <a:ext cx="307238" cy="30723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78426" y="450799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Inbox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4146" y="4873752"/>
            <a:ext cx="31434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Tüketici, işlediği mesaj Id'lerini saklar; Outbox'ın tüketici tarafındaki eşidir.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2452" y="3429000"/>
            <a:ext cx="3600602" cy="242316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22714" y="37033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134" y="3869740"/>
            <a:ext cx="307238" cy="3072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5332" y="4507992"/>
            <a:ext cx="323484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Doğal idempotency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1052" y="4873752"/>
            <a:ext cx="31434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“Durumu X yap” tipi işlemler, “X kadar artır” tipindekilere göre güvenlidir.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DAĞITIK SİSTEMLER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Resiliency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Geçici hatalara ve yavaş bağımlılıklara karşı sistemin ayakta kalmasını sağlayan stratejiler.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116470" cy="2240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2555" y="2240279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01" y="2382926"/>
            <a:ext cx="263347" cy="2633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953512"/>
            <a:ext cx="17507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9272"/>
            <a:ext cx="16592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Geçici hatada exponential backoff + jitter ile yeniden dene.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126" y="1965960"/>
            <a:ext cx="2116470" cy="2240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7041" y="2240279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687" y="2382926"/>
            <a:ext cx="263347" cy="2633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76006" y="2953512"/>
            <a:ext cx="17507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Circuit Breaker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1726" y="3319272"/>
            <a:ext cx="16592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Sürekli hata veren servise çağrıyı geçici olarak kes.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7612" y="1965960"/>
            <a:ext cx="2116470" cy="2240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1527" y="2240279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174" y="2382926"/>
            <a:ext cx="263347" cy="2633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20492" y="2953512"/>
            <a:ext cx="17507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212" y="3319272"/>
            <a:ext cx="16592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Yanıt vermeyen çağrıyı belirli sürede sonlandır.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2098" y="1965960"/>
            <a:ext cx="2116470" cy="2240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66013" y="2240279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n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660" y="2382926"/>
            <a:ext cx="263347" cy="2633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64978" y="2953512"/>
            <a:ext cx="17507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0698" y="3319272"/>
            <a:ext cx="16592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Hata durumunda varsayılan veya önbellekteki yanıtı dön.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6584" y="1965960"/>
            <a:ext cx="2116470" cy="2240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10500" y="2240279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olum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3146" y="2382926"/>
            <a:ext cx="263347" cy="2633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09464" y="2953512"/>
            <a:ext cx="17507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Rate Limiter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5184" y="3319272"/>
            <a:ext cx="16592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Eşzamanlı istek sayısını sınırlayarak kaynakları koru.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07408"/>
            <a:ext cx="11094415" cy="10058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5354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.NET 10'DA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791456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Microsoft.Extensions.Http.Resilience ve Polly v8 ile bu stratejiler bir “resilience pipeline” olarak birleştirilir; AddStandardResilienceHandler HttpClient'lar için hazır bir varsayılan sunar.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550408"/>
            <a:ext cx="11094415" cy="749808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6784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8A6D1E"/>
                </a:solidFill>
                <a:latin typeface="Calibri"/>
              </a:rPr>
              <a:t>DIKKAT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934456"/>
            <a:ext cx="1054577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4A16"/>
                </a:solidFill>
                <a:latin typeface="Calibri"/>
              </a:rPr>
              <a:t>Retry yalnızca idempotent işlemlerde güvenlidir; aksi halde aynı işlem iki kez gerçekleşebilir.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DAĞITIK SİSTEMLER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Integration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Servisler ve dış sistemler arasında veri ve olay akışını tasarlamak için iletişim stilini bilinçli seçmek gerekir.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920240"/>
            <a:ext cx="4376775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920240"/>
            <a:ext cx="4376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Senkron (HTTP / gRPC)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6279" y="1920240"/>
            <a:ext cx="4376775" cy="457200"/>
          </a:xfrm>
          <a:prstGeom prst="roundRect">
            <a:avLst>
              <a:gd name="adj" fmla="val 50000"/>
            </a:avLst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6279" y="1920240"/>
            <a:ext cx="4376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Asenkron (Messaging)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11094415" cy="51206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Bağlılık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487168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Zamansal bağlılık: karşı taraf ayakta olmalı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3439" y="2487168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Zamansal olarak ayrık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72384"/>
            <a:ext cx="11094415" cy="51206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72384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Yanıt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72384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Anında sonuç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3439" y="3072384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Eventual 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94415" cy="51206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Hata yönetimi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3657600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Retry, Circuit Breaker,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3439" y="3657600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Outbox, Inbox, Dead Letter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42816"/>
            <a:ext cx="11094415" cy="512064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42816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Uygun senaryo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4242816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Sorgular, anlık doğrulama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3439" y="4242816"/>
            <a:ext cx="410245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Olay bildirimi, uzun süren iş akışları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65192"/>
            <a:ext cx="5474055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19379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5341193"/>
            <a:ext cx="272125" cy="2721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4480" y="5102351"/>
            <a:ext cx="4239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Domain vs Integration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22392"/>
            <a:ext cx="4239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Domain event bounded context içinde kalır; integration event sınırı aşar ve sözleşmedir.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8999" y="4965192"/>
            <a:ext cx="5474055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7599" y="519379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000" y="5341193"/>
            <a:ext cx="272125" cy="2721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74839" y="5102351"/>
            <a:ext cx="4239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Anti-Corruption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4839" y="5422392"/>
            <a:ext cx="4239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Dış sistemin modelini kendi domain modelinize çeviren koruyucu katman.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ALTYAPI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Kullanılacak Teknolojiler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Örnek proje boyunca her pattern'i aşağıdaki teknoloji yığını üzerinde uygulamalı olarak geliştiriyoruz.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00602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221991"/>
            <a:ext cx="594360" cy="59436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3" y="2376525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2768" y="219456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.NET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3288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Minimal API, DI, BackgroundService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5546" y="1965960"/>
            <a:ext cx="3600602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4146" y="2221991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376525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19674" y="219456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Entity Framework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9674" y="253288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DbContext, interceptor'lar, migration'lar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2452" y="1965960"/>
            <a:ext cx="3600602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1052" y="2221991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586" y="2376525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66580" y="219456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MediatR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580" y="253288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Command/Query, Pipeline Behaviors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3600602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45643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" y="3610965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72768" y="342900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FluentValidation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376732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Request doğrulama kuralları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5546" y="3200400"/>
            <a:ext cx="3600602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4146" y="345643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3610965"/>
            <a:ext cx="285292" cy="2852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19674" y="342900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PostgreSQL / SQL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9674" y="376732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İlişkisel veri ve Outbox tabloları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2452" y="3200400"/>
            <a:ext cx="3600602" cy="10972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1052" y="345643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586" y="3610965"/>
            <a:ext cx="285292" cy="2852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66580" y="3429000"/>
            <a:ext cx="24118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6580" y="3767328"/>
            <a:ext cx="241188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Veritabanı ve broker için yerel ortam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17720"/>
            <a:ext cx="11094415" cy="10972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74573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0B8D9"/>
                </a:solidFill>
                <a:latin typeface="Calibri"/>
              </a:rPr>
              <a:t>BU EĞITIMDE GÖRECEĞIZ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00176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Tek bir sipariş yönetimi örneği üzerinde Clean Architecture iskeletini kurup tüm patternleri adım adım ekliyor; sonunda Outbox ve Resiliency ile dağıtık senaryoya taşıyoruz.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219456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0B8D9"/>
                </a:solidFill>
                <a:latin typeface="Calibri"/>
              </a:rPr>
              <a:t>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Aklınızda Kalması Gerekenler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" y="2210104"/>
            <a:ext cx="197510" cy="19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1031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Bağımlılıklar içe doğru akar: iş kuralları altyapıyı bilmez (Clean, Hexagonal, Onion).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88920"/>
            <a:ext cx="411480" cy="4114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" y="2895904"/>
            <a:ext cx="197510" cy="1975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2788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Repository, Unit of Work ve Specification veri erişimini domain'den ayırır.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" y="3581704"/>
            <a:ext cx="197510" cy="1975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4747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CQRS, Result ve Pipeline Behaviors uygulama katmanını sade ve tutarlı tutar.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60520"/>
            <a:ext cx="411480" cy="4114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" y="4267504"/>
            <a:ext cx="197510" cy="1975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41605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Outbox + Idempotency, dağıtık sistemlerde mesaj kaybını ve tekrarını yönetir.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846320"/>
            <a:ext cx="411480" cy="4114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" y="4953304"/>
            <a:ext cx="197510" cy="1975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4480" y="48463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Resiliency ve doğru Integration stili, sistemin hatalara rağmen ayakta kalmasını sağlar.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1">
                <a:solidFill>
                  <a:srgbClr val="00B8D9"/>
                </a:solidFill>
                <a:latin typeface="Calibri"/>
              </a:rPr>
              <a:t>Sorular?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91C7"/>
                </a:solidFill>
                <a:latin typeface="Calibri"/>
              </a:rPr>
              <a:t>Enterprise Design Patterns &amp; Architectures — Neominal Akademi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91C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